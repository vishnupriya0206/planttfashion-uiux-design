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B1DA7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55664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B1DA7C"/>
                </a:solidFill>
                <a:latin typeface="Aptos"/>
              </a:defRPr>
            </a:pPr>
            <a:r>
              <a:t>PLANTFASHION  /  UI·UX CASE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26679" y="0"/>
            <a:ext cx="4462272" cy="6858000"/>
          </a:xfrm>
          <a:prstGeom prst="rect">
            <a:avLst/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65008" y="384048"/>
            <a:ext cx="3767328" cy="6053328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25880"/>
            <a:ext cx="3255264" cy="2157984"/>
          </a:xfrm>
          <a:prstGeom prst="rect">
            <a:avLst/>
          </a:prstGeom>
        </p:spPr>
      </p:pic>
      <p:pic>
        <p:nvPicPr>
          <p:cNvPr id="7" name="Picture 6" descr="sh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730752"/>
            <a:ext cx="3255264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85800"/>
            <a:ext cx="6035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B1DA7C"/>
                </a:solidFill>
                <a:latin typeface="Aptos"/>
              </a:defRPr>
            </a:pPr>
            <a:r>
              <a:t>INTERNSHIP PROJECT  •  UI/UX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17320"/>
            <a:ext cx="649224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PlantFashion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95728"/>
            <a:ext cx="603504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400" b="0">
                <a:solidFill>
                  <a:srgbClr val="EFF7E4"/>
                </a:solidFill>
                <a:latin typeface="Aptos"/>
              </a:defRPr>
            </a:pPr>
            <a:r>
              <a:t>A plant e-commerce experience</a:t>
            </a:r>
          </a:p>
          <a:p>
            <a:pPr algn="l">
              <a:spcAft>
                <a:spcPts val="500"/>
              </a:spcAft>
              <a:defRPr sz="2400" b="0">
                <a:solidFill>
                  <a:srgbClr val="EFF7E4"/>
                </a:solidFill>
                <a:latin typeface="Aptos"/>
              </a:defRPr>
            </a:pPr>
            <a:r>
              <a:t>for greener everyday living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3749039"/>
            <a:ext cx="822960" cy="54864"/>
          </a:xfrm>
          <a:prstGeom prst="rect">
            <a:avLst/>
          </a:prstGeom>
          <a:solidFill>
            <a:srgbClr val="B1D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069080"/>
            <a:ext cx="4389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Vishnupriya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489704"/>
            <a:ext cx="6126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EFF7E4"/>
                </a:solidFill>
                <a:latin typeface="Aptos"/>
              </a:defRPr>
            </a:pPr>
            <a:r>
              <a:t>B.E. Computer Science and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864608"/>
            <a:ext cx="6126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EFF7E4"/>
                </a:solidFill>
                <a:latin typeface="Aptos"/>
              </a:defRPr>
            </a:pPr>
            <a:r>
              <a:t>Astonish Infotech  |  June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806440"/>
            <a:ext cx="6217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B1DA7C"/>
                </a:solidFill>
                <a:latin typeface="Aptos"/>
              </a:defRPr>
            </a:pPr>
            <a:r>
              <a:t>University College of Engineering · BIT Campus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63E2D"/>
                </a:solidFill>
                <a:latin typeface="Aptos"/>
              </a:defRPr>
            </a:pPr>
            <a:r>
              <a:t>Project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13232" cy="50292"/>
          </a:xfrm>
          <a:prstGeom prst="rect">
            <a:avLst/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6776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55664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67768"/>
                </a:solidFill>
                <a:latin typeface="Aptos"/>
              </a:defRPr>
            </a:pPr>
            <a:r>
              <a:t>PLANTFASHION  /  UI·UX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768096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200" b="0">
                <a:solidFill>
                  <a:srgbClr val="1F2B23"/>
                </a:solidFill>
                <a:latin typeface="Aptos"/>
              </a:defRPr>
            </a:pPr>
            <a:r>
              <a:t>A calm, category-led shopping journey that helps people discover plants and move from interest to order with less friction.</a:t>
            </a:r>
          </a:p>
        </p:txBody>
      </p:sp>
      <p:pic>
        <p:nvPicPr>
          <p:cNvPr id="7" name="Picture 6" descr="ind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1261872"/>
            <a:ext cx="2834640" cy="187451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41080" y="3273552"/>
            <a:ext cx="2834640" cy="1024128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87968" y="3511296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E2D"/>
                </a:solidFill>
                <a:latin typeface="Aptos"/>
              </a:defRPr>
            </a:pPr>
            <a:r>
              <a:t>DESIGNED IN FIGMA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392" y="3822191"/>
            <a:ext cx="24231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67768"/>
                </a:solidFill>
                <a:latin typeface="Aptos"/>
              </a:defRPr>
            </a:pPr>
            <a:r>
              <a:t>Research → Wireframes → UI → Prototype →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43200"/>
            <a:ext cx="239572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944368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316F4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456432"/>
            <a:ext cx="2011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63E2D"/>
                </a:solidFill>
                <a:latin typeface="Aptos"/>
              </a:defRPr>
            </a:pPr>
            <a:r>
              <a:t>Project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822191"/>
            <a:ext cx="2011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67768"/>
                </a:solidFill>
                <a:latin typeface="Aptos"/>
              </a:defRPr>
            </a:pPr>
            <a:r>
              <a:t>UI/UX design for an online plant store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39" y="2743200"/>
            <a:ext cx="239572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2944368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316F4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3456432"/>
            <a:ext cx="2011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63E2D"/>
                </a:solidFill>
                <a:latin typeface="Aptos"/>
              </a:defRPr>
            </a:pPr>
            <a:r>
              <a:t>Core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3822191"/>
            <a:ext cx="2011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67768"/>
                </a:solidFill>
                <a:latin typeface="Aptos"/>
              </a:defRPr>
            </a:pPr>
            <a:r>
              <a:t>Plant buyers and gift buyers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25312" y="2743200"/>
            <a:ext cx="239572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9903" y="2944368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316F4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3" y="3456432"/>
            <a:ext cx="2011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63E2D"/>
                </a:solidFill>
                <a:latin typeface="Aptos"/>
              </a:defRPr>
            </a:pPr>
            <a:r>
              <a:t>Main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9903" y="3822191"/>
            <a:ext cx="2011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67768"/>
                </a:solidFill>
                <a:latin typeface="Aptos"/>
              </a:defRPr>
            </a:pPr>
            <a:r>
              <a:t>Connected high-fidelity website 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66360"/>
            <a:ext cx="7772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316F48"/>
                </a:solidFill>
                <a:latin typeface="Aptos"/>
              </a:defRPr>
            </a:pPr>
            <a:r>
              <a:t>Internship: 01–30 June 2026  •  Domain: UI/UX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63E2D"/>
                </a:solidFill>
                <a:latin typeface="Aptos"/>
              </a:defRPr>
            </a:pPr>
            <a:r>
              <a:t>The design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13232" cy="50292"/>
          </a:xfrm>
          <a:prstGeom prst="rect">
            <a:avLst/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6776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55664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67768"/>
                </a:solidFill>
                <a:latin typeface="Aptos"/>
              </a:defRPr>
            </a:pPr>
            <a:r>
              <a:t>PLANTFASHION  /  UI·UX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1F2B23"/>
                </a:solidFill>
                <a:latin typeface="Aptos"/>
              </a:defRPr>
            </a:pPr>
            <a:r>
              <a:t>Buying a plant online should feel simple—not like navigating a crowded catalogue.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13892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2185415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331720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316F4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167128"/>
            <a:ext cx="3749039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E2D"/>
                </a:solidFill>
                <a:latin typeface="Aptos"/>
              </a:defRPr>
            </a:pPr>
            <a:r>
              <a:t>Crowded listings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51176"/>
            <a:ext cx="37947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67768"/>
                </a:solidFill>
                <a:latin typeface="Aptos"/>
              </a:defRPr>
            </a:pPr>
            <a:r>
              <a:t>Hard to compare plants at a glance.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65960"/>
            <a:ext cx="513892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19088" y="2185415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331720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316F4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2167128"/>
            <a:ext cx="3749039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E2D"/>
                </a:solidFill>
                <a:latin typeface="Aptos"/>
              </a:defRPr>
            </a:pPr>
            <a:r>
              <a:t>Missing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2551176"/>
            <a:ext cx="37947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67768"/>
                </a:solidFill>
                <a:latin typeface="Aptos"/>
              </a:defRPr>
            </a:pPr>
            <a:r>
              <a:t>Plant names and useful descriptions may be unclear.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66160"/>
            <a:ext cx="513892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9536" y="3785615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931920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316F4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1056" y="3767328"/>
            <a:ext cx="3749039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E2D"/>
                </a:solidFill>
                <a:latin typeface="Aptos"/>
              </a:defRPr>
            </a:pPr>
            <a:r>
              <a:t>Long checkout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1056" y="4151376"/>
            <a:ext cx="37947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67768"/>
                </a:solidFill>
                <a:latin typeface="Aptos"/>
              </a:defRPr>
            </a:pPr>
            <a:r>
              <a:t>Too many steps can interrupt purchase intent.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566160"/>
            <a:ext cx="513892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19088" y="3785615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931920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316F4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3767328"/>
            <a:ext cx="3749039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E2D"/>
                </a:solidFill>
                <a:latin typeface="Aptos"/>
              </a:defRPr>
            </a:pPr>
            <a:r>
              <a:t>Unclear next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4151376"/>
            <a:ext cx="37947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67768"/>
                </a:solidFill>
                <a:latin typeface="Aptos"/>
              </a:defRPr>
            </a:pPr>
            <a:r>
              <a:t>Customers need confidence after payment.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532120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316F48"/>
                </a:solidFill>
                <a:latin typeface="Aptos"/>
              </a:defRPr>
            </a:pPr>
            <a:r>
              <a:t>Design response: clearer categories, visible prices, useful product information and a guided purchase 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63E2D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13232" cy="50292"/>
          </a:xfrm>
          <a:prstGeom prst="rect">
            <a:avLst/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6776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55664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67768"/>
                </a:solidFill>
                <a:latin typeface="Aptos"/>
              </a:defRPr>
            </a:pPr>
            <a:r>
              <a:t>PLANTFASHION  /  UI·UX 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401568" cy="1572768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8191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16F4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947672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63E2D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50008"/>
            <a:ext cx="2880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67768"/>
                </a:solidFill>
                <a:latin typeface="Aptos"/>
              </a:defRPr>
            </a:pPr>
            <a:r>
              <a:t>Organise plants by meaningful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417320"/>
            <a:ext cx="3401568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58191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16F4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1947672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63E2D"/>
                </a:solidFill>
                <a:latin typeface="Aptos"/>
              </a:defRPr>
            </a:pPr>
            <a:r>
              <a:t>Inform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350008"/>
            <a:ext cx="2880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67768"/>
                </a:solidFill>
                <a:latin typeface="Aptos"/>
              </a:defRPr>
            </a:pPr>
            <a:r>
              <a:t>Show price, plant name, scientific name and description.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417320"/>
            <a:ext cx="3401568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158191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16F4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1947672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63E2D"/>
                </a:solidFill>
                <a:latin typeface="Aptos"/>
              </a:defRPr>
            </a:pPr>
            <a:r>
              <a:t>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350008"/>
            <a:ext cx="2880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67768"/>
                </a:solidFill>
                <a:latin typeface="Aptos"/>
              </a:defRPr>
            </a:pPr>
            <a:r>
              <a:t>Keep navigation and calls to action predictable.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474720"/>
            <a:ext cx="3401568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63931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16F4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005072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63E2D"/>
                </a:solidFill>
                <a:latin typeface="Aptos"/>
              </a:defRPr>
            </a:pPr>
            <a:r>
              <a:t>Simplify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407408"/>
            <a:ext cx="2880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67768"/>
                </a:solidFill>
                <a:latin typeface="Aptos"/>
              </a:defRPr>
            </a:pPr>
            <a:r>
              <a:t>Connect cart, address, payment and confirmation.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3128" y="3474720"/>
            <a:ext cx="3401568" cy="1572768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54296" y="363931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16F4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4005072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63E2D"/>
                </a:solidFill>
                <a:latin typeface="Aptos"/>
              </a:defRPr>
            </a:pPr>
            <a:r>
              <a:t>Unify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4296" y="4407408"/>
            <a:ext cx="2880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67768"/>
                </a:solidFill>
                <a:latin typeface="Aptos"/>
              </a:defRPr>
            </a:pPr>
            <a:r>
              <a:t>Reuse visual components across every page.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47888" y="3474720"/>
            <a:ext cx="3401568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9056" y="363931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16F4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4005072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63E2D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9056" y="4407408"/>
            <a:ext cx="2880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67768"/>
                </a:solidFill>
                <a:latin typeface="Aptos"/>
              </a:defRPr>
            </a:pPr>
            <a:r>
              <a:t>Test navigation, UI consistency and usability.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63E2D"/>
                </a:solidFill>
                <a:latin typeface="Aptos"/>
              </a:defRPr>
            </a:pPr>
            <a:r>
              <a:t>Design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13232" cy="50292"/>
          </a:xfrm>
          <a:prstGeom prst="rect">
            <a:avLst/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6776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55664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67768"/>
                </a:solidFill>
                <a:latin typeface="Aptos"/>
              </a:defRPr>
            </a:pPr>
            <a:r>
              <a:t>PLANTFASHION  /  UI·UX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9601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667768"/>
                </a:solidFill>
                <a:latin typeface="Aptos"/>
              </a:defRPr>
            </a:pPr>
            <a:r>
              <a:t>A user-centred workflow—from understanding needs to refining the prototype.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1353312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2415" y="233172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5" y="2514600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117043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63E2D"/>
                </a:solidFill>
                <a:latin typeface="Aptos"/>
              </a:defRPr>
            </a:pPr>
            <a:r>
              <a:t>Empathize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547872"/>
            <a:ext cx="11704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67768"/>
                </a:solidFill>
                <a:latin typeface="Aptos"/>
              </a:defRPr>
            </a:pPr>
            <a:r>
              <a:t>Research users &amp; pain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0824" y="2852928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316F4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057400"/>
            <a:ext cx="1353312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70048" y="233172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048" y="2514600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127248"/>
            <a:ext cx="117043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63E2D"/>
                </a:solidFill>
                <a:latin typeface="Aptos"/>
              </a:defRPr>
            </a:pPr>
            <a:r>
              <a:t>Define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547872"/>
            <a:ext cx="11704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67768"/>
                </a:solidFill>
                <a:latin typeface="Aptos"/>
              </a:defRPr>
            </a:pPr>
            <a:r>
              <a:t>Frame the design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2852928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316F4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3632" y="2057400"/>
            <a:ext cx="1353312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97680" y="233172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514600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5072" y="3127248"/>
            <a:ext cx="117043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63E2D"/>
                </a:solidFill>
                <a:latin typeface="Aptos"/>
              </a:defRPr>
            </a:pPr>
            <a:r>
              <a:t>Ideate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5072" y="3547872"/>
            <a:ext cx="11704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67768"/>
                </a:solidFill>
                <a:latin typeface="Aptos"/>
              </a:defRPr>
            </a:pPr>
            <a:r>
              <a:t>Explore structures &amp; ideas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2852928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316F4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41264" y="2057400"/>
            <a:ext cx="1353312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25312" y="233172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25312" y="2514600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32703" y="3127248"/>
            <a:ext cx="117043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63E2D"/>
                </a:solidFill>
                <a:latin typeface="Aptos"/>
              </a:defRPr>
            </a:pPr>
            <a:r>
              <a:t>Wireframe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32703" y="3547872"/>
            <a:ext cx="11704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67768"/>
                </a:solidFill>
                <a:latin typeface="Aptos"/>
              </a:defRPr>
            </a:pPr>
            <a:r>
              <a:t>Plan layout and hierarchy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852928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316F4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68896" y="2057400"/>
            <a:ext cx="1353312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52944" y="233172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52944" y="2514600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0336" y="3127248"/>
            <a:ext cx="117043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63E2D"/>
                </a:solidFill>
                <a:latin typeface="Aptos"/>
              </a:defRPr>
            </a:pPr>
            <a:r>
              <a:t>Visual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0336" y="3547872"/>
            <a:ext cx="11704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67768"/>
                </a:solidFill>
                <a:latin typeface="Aptos"/>
              </a:defRPr>
            </a:pPr>
            <a:r>
              <a:t>Apply the design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1352" y="2852928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316F4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96528" y="2057400"/>
            <a:ext cx="1353312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80576" y="233172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16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0576" y="2514600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87968" y="3127248"/>
            <a:ext cx="117043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63E2D"/>
                </a:solidFill>
                <a:latin typeface="Aptos"/>
              </a:defRPr>
            </a:pPr>
            <a:r>
              <a:t>Prototype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87968" y="3547872"/>
            <a:ext cx="11704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67768"/>
                </a:solidFill>
                <a:latin typeface="Aptos"/>
              </a:defRPr>
            </a:pPr>
            <a:r>
              <a:t>Connect key interactions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58984" y="2852928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316F4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24160" y="2057400"/>
            <a:ext cx="1353312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808208" y="233172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16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08208" y="2514600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3127248"/>
            <a:ext cx="117043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63E2D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3547872"/>
            <a:ext cx="11704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67768"/>
                </a:solidFill>
                <a:latin typeface="Aptos"/>
              </a:defRPr>
            </a:pPr>
            <a:r>
              <a:t>Check and refine usability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4800600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029200"/>
            <a:ext cx="10332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3E2D"/>
                </a:solidFill>
                <a:latin typeface="Aptos"/>
              </a:defRPr>
            </a:pPr>
            <a:r>
              <a:t>Primary tool: Figma  •  Supporting assets: Google Fonts, icon libraries and plant imagery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63E2D"/>
                </a:solidFill>
                <a:latin typeface="Aptos"/>
              </a:defRPr>
            </a:pPr>
            <a:r>
              <a:t>Research → user needs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13232" cy="50292"/>
          </a:xfrm>
          <a:prstGeom prst="rect">
            <a:avLst/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6776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55664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67768"/>
                </a:solidFill>
                <a:latin typeface="Aptos"/>
              </a:defRPr>
            </a:pPr>
            <a:r>
              <a:t>PLANTFASHION  /  UI·UX 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507492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316F48"/>
                </a:solidFill>
                <a:latin typeface="Aptos"/>
              </a:defRPr>
            </a:pPr>
            <a:r>
              <a:t>RESEARCH METHODS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76272"/>
            <a:ext cx="91440" cy="91440"/>
          </a:xfrm>
          <a:prstGeom prst="roundRect">
            <a:avLst>
              <a:gd name="adj" fmla="val 12000"/>
            </a:avLst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084831"/>
            <a:ext cx="4169663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F2B23"/>
                </a:solidFill>
                <a:latin typeface="Aptos"/>
              </a:defRPr>
            </a:pPr>
            <a:r>
              <a:t>User interviews and online surveys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2632456"/>
            <a:ext cx="91440" cy="91440"/>
          </a:xfrm>
          <a:prstGeom prst="roundRect">
            <a:avLst>
              <a:gd name="adj" fmla="val 12000"/>
            </a:avLst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2541016"/>
            <a:ext cx="4169663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F2B23"/>
                </a:solidFill>
                <a:latin typeface="Aptos"/>
              </a:defRPr>
            </a:pPr>
            <a:r>
              <a:t>Competitor analysis of plant stores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3088640"/>
            <a:ext cx="91440" cy="91440"/>
          </a:xfrm>
          <a:prstGeom prst="roundRect">
            <a:avLst>
              <a:gd name="adj" fmla="val 12000"/>
            </a:avLst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2997200"/>
            <a:ext cx="4169663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F2B23"/>
                </a:solidFill>
                <a:latin typeface="Aptos"/>
              </a:defRPr>
            </a:pPr>
            <a:r>
              <a:t>Observation of existing shopping experiences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97763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316F48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370832"/>
            <a:ext cx="4315968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63E2D"/>
                </a:solidFill>
                <a:latin typeface="Aptos"/>
              </a:defRPr>
            </a:pPr>
            <a:r>
              <a:t>Users want categories, visible prices, clear plant information, a short checkout and a clear delivery confirmation.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3328" y="1325880"/>
            <a:ext cx="2450592" cy="4251960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572768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746504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33172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3E2D"/>
                </a:solidFill>
                <a:latin typeface="Aptos"/>
              </a:defRPr>
            </a:pPr>
            <a:r>
              <a:t>Meera Nair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724912"/>
            <a:ext cx="114300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3" y="2779776"/>
            <a:ext cx="103327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316F48"/>
                </a:solidFill>
                <a:latin typeface="Aptos"/>
              </a:defRPr>
            </a:pPr>
            <a:r>
              <a:t>PLANT BUYER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246120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16F48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493008"/>
            <a:ext cx="20574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F2B23"/>
                </a:solidFill>
                <a:latin typeface="Aptos"/>
              </a:defRPr>
            </a:pPr>
            <a:r>
              <a:t>Decorate an apartment with easy-care plants.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270248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16F48"/>
                </a:solidFill>
                <a:latin typeface="Aptos"/>
              </a:defRPr>
            </a:pPr>
            <a:r>
              <a:t>PAIN 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526280"/>
            <a:ext cx="20574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F2B23"/>
                </a:solidFill>
                <a:latin typeface="Aptos"/>
              </a:defRPr>
            </a:pPr>
            <a:r>
              <a:t>Cluttered stores and long forms.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1325880"/>
            <a:ext cx="2450592" cy="4251960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97112" y="1572768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97112" y="1746504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7112" y="233172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3E2D"/>
                </a:solidFill>
                <a:latin typeface="Aptos"/>
              </a:defRPr>
            </a:pPr>
            <a:r>
              <a:t>Arun Kumar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97112" y="2724912"/>
            <a:ext cx="114300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51976" y="2779776"/>
            <a:ext cx="103327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316F48"/>
                </a:solidFill>
                <a:latin typeface="Aptos"/>
              </a:defRPr>
            </a:pPr>
            <a:r>
              <a:t>GIFT BUYER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7112" y="3246120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16F48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7112" y="3493008"/>
            <a:ext cx="20574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F2B23"/>
                </a:solidFill>
                <a:latin typeface="Aptos"/>
              </a:defRPr>
            </a:pPr>
            <a:r>
              <a:t>Find attractive plants for gifts, garden or office.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7112" y="4270248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16F48"/>
                </a:solidFill>
                <a:latin typeface="Aptos"/>
              </a:defRPr>
            </a:pPr>
            <a:r>
              <a:t>PAIN 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7112" y="4526280"/>
            <a:ext cx="20574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F2B23"/>
                </a:solidFill>
                <a:latin typeface="Aptos"/>
              </a:defRPr>
            </a:pPr>
            <a:r>
              <a:t>Unclear delivery dates and payment choices.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63E2D"/>
                </a:solidFill>
                <a:latin typeface="Aptos"/>
              </a:defRPr>
            </a:pPr>
            <a:r>
              <a:t>The end-to-end user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13232" cy="50292"/>
          </a:xfrm>
          <a:prstGeom prst="rect">
            <a:avLst/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6776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55664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67768"/>
                </a:solidFill>
                <a:latin typeface="Aptos"/>
              </a:defRPr>
            </a:pPr>
            <a:r>
              <a:t>PLANTFASHION  /  UI·UX 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81328"/>
            <a:ext cx="233172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459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316F4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2011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3E2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2" y="1901952"/>
            <a:ext cx="3474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316F4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481328"/>
            <a:ext cx="233172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16459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316F4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2011680"/>
            <a:ext cx="2011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3E2D"/>
                </a:solidFill>
                <a:latin typeface="Aptos"/>
              </a:defRPr>
            </a:pPr>
            <a:r>
              <a:t>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1901952"/>
            <a:ext cx="3474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316F4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1481328"/>
            <a:ext cx="233172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3" y="16459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316F4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3" y="2011680"/>
            <a:ext cx="2011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3E2D"/>
                </a:solidFill>
                <a:latin typeface="Aptos"/>
              </a:defRPr>
            </a:pPr>
            <a:r>
              <a:t>Shop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5672" y="1901952"/>
            <a:ext cx="3474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316F4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62872" y="1481328"/>
            <a:ext cx="233172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27463" y="16459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316F4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3" y="2011680"/>
            <a:ext cx="2011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3E2D"/>
                </a:solidFill>
                <a:latin typeface="Aptos"/>
              </a:defRPr>
            </a:pPr>
            <a:r>
              <a:t>Product details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419856"/>
            <a:ext cx="233172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58444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316F4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950208"/>
            <a:ext cx="2011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3E2D"/>
                </a:solidFill>
                <a:latin typeface="Aptos"/>
              </a:defRPr>
            </a:pPr>
            <a:r>
              <a:t>Cart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4952" y="3840480"/>
            <a:ext cx="3474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316F4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02152" y="3419856"/>
            <a:ext cx="233172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66744" y="358444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316F4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66744" y="3950208"/>
            <a:ext cx="2011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3E2D"/>
                </a:solidFill>
                <a:latin typeface="Aptos"/>
              </a:defRPr>
            </a:pPr>
            <a:r>
              <a:t>Checkout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25312" y="3840480"/>
            <a:ext cx="3474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316F4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82512" y="3419856"/>
            <a:ext cx="233172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3" y="358444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316F4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7103" y="3950208"/>
            <a:ext cx="2011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3E2D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5672" y="3840480"/>
            <a:ext cx="3474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316F4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62872" y="3419856"/>
            <a:ext cx="233172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27463" y="358444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316F4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7463" y="3950208"/>
            <a:ext cx="2011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3E2D"/>
                </a:solidFill>
                <a:latin typeface="Aptos"/>
              </a:defRPr>
            </a:pPr>
            <a:r>
              <a:t>Confirmation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952" y="4663440"/>
            <a:ext cx="1234440" cy="329184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5" y="4718303"/>
            <a:ext cx="11247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316F48"/>
                </a:solidFill>
                <a:latin typeface="Aptos"/>
              </a:defRPr>
            </a:pPr>
            <a:r>
              <a:t>BROWSE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39312" y="4663440"/>
            <a:ext cx="1234440" cy="329184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94176" y="4718303"/>
            <a:ext cx="11247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316F48"/>
                </a:solidFill>
                <a:latin typeface="Aptos"/>
              </a:defRPr>
            </a:pPr>
            <a:r>
              <a:t>CHOOSE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19672" y="4663440"/>
            <a:ext cx="1234440" cy="329184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74536" y="4718303"/>
            <a:ext cx="11247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316F48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00032" y="4663440"/>
            <a:ext cx="1234440" cy="329184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54896" y="4718303"/>
            <a:ext cx="11247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316F48"/>
                </a:solidFill>
                <a:latin typeface="Aptos"/>
              </a:defRPr>
            </a:pPr>
            <a:r>
              <a:t>COMPLETE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349240"/>
            <a:ext cx="10881360" cy="502920"/>
          </a:xfrm>
          <a:prstGeom prst="roundRect">
            <a:avLst>
              <a:gd name="adj" fmla="val 12000"/>
            </a:avLst>
          </a:prstGeom>
          <a:solidFill>
            <a:srgbClr val="16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5504688"/>
            <a:ext cx="10469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Persistent navigation + visible order summary = fewer surprises throughout the journey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63E2D"/>
                </a:solidFill>
                <a:latin typeface="Aptos"/>
              </a:defRPr>
            </a:pPr>
            <a:r>
              <a:t>Visual identity &amp; design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13232" cy="50292"/>
          </a:xfrm>
          <a:prstGeom prst="rect">
            <a:avLst/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6776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55664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67768"/>
                </a:solidFill>
                <a:latin typeface="Aptos"/>
              </a:defRPr>
            </a:pPr>
            <a:r>
              <a:t>PLANTFASHION  /  UI·UX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33856"/>
            <a:ext cx="9601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667768"/>
                </a:solidFill>
                <a:latin typeface="Aptos"/>
              </a:defRPr>
            </a:pPr>
            <a:r>
              <a:t>A fresh, natural visual language built around clarity and consistency.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1572768" cy="932688"/>
          </a:xfrm>
          <a:prstGeom prst="roundRect">
            <a:avLst>
              <a:gd name="adj" fmla="val 12000"/>
            </a:avLst>
          </a:prstGeom>
          <a:solidFill>
            <a:srgbClr val="16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871216"/>
            <a:ext cx="15727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E2D"/>
                </a:solidFill>
                <a:latin typeface="Aptos"/>
              </a:defRPr>
            </a:pPr>
            <a:r>
              <a:t>Deep green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32887" y="1828800"/>
            <a:ext cx="1572768" cy="932688"/>
          </a:xfrm>
          <a:prstGeom prst="roundRect">
            <a:avLst>
              <a:gd name="adj" fmla="val 12000"/>
            </a:avLst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7" y="2871216"/>
            <a:ext cx="15727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E2D"/>
                </a:solidFill>
                <a:latin typeface="Aptos"/>
              </a:defRPr>
            </a:pPr>
            <a:r>
              <a:t>Action green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1828800"/>
            <a:ext cx="1572768" cy="932688"/>
          </a:xfrm>
          <a:prstGeom prst="roundRect">
            <a:avLst>
              <a:gd name="adj" fmla="val 12000"/>
            </a:avLst>
          </a:prstGeom>
          <a:solidFill>
            <a:srgbClr val="B1D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7" y="2871216"/>
            <a:ext cx="15727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E2D"/>
                </a:solidFill>
                <a:latin typeface="Aptos"/>
              </a:defRPr>
            </a:pPr>
            <a:r>
              <a:t>Leaf lime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7" y="1828800"/>
            <a:ext cx="1572768" cy="932688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7" y="2871216"/>
            <a:ext cx="15727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E2D"/>
                </a:solidFill>
                <a:latin typeface="Aptos"/>
              </a:defRPr>
            </a:pPr>
            <a:r>
              <a:t>Soft surface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828800"/>
            <a:ext cx="1572768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2871216"/>
            <a:ext cx="15727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E2D"/>
                </a:solidFill>
                <a:latin typeface="Aptos"/>
              </a:defRPr>
            </a:pPr>
            <a:r>
              <a:t>White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30968" y="1828800"/>
            <a:ext cx="1572768" cy="932688"/>
          </a:xfrm>
          <a:prstGeom prst="roundRect">
            <a:avLst>
              <a:gd name="adj" fmla="val 12000"/>
            </a:avLst>
          </a:prstGeom>
          <a:solidFill>
            <a:srgbClr val="DA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30968" y="2871216"/>
            <a:ext cx="15727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E2D"/>
                </a:solidFill>
                <a:latin typeface="Aptos"/>
              </a:defRPr>
            </a:pPr>
            <a:r>
              <a:t>Price accent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20440"/>
            <a:ext cx="525780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767328"/>
            <a:ext cx="4480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316F48"/>
                </a:solidFill>
                <a:latin typeface="Aptos"/>
              </a:defRPr>
            </a:pPr>
            <a:r>
              <a:t>TYPE &amp; HIERARCHY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133087"/>
            <a:ext cx="21945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163E2D"/>
                </a:solidFill>
                <a:latin typeface="Aptos"/>
              </a:defRPr>
            </a:pPr>
            <a:r>
              <a:t>Bold headings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590288"/>
            <a:ext cx="4480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67768"/>
                </a:solidFill>
                <a:latin typeface="Aptos"/>
              </a:defRPr>
            </a:pPr>
            <a:r>
              <a:t>Clean sans-serif body copy for readability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520440"/>
            <a:ext cx="5321808" cy="1874519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767328"/>
            <a:ext cx="4480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316F48"/>
                </a:solidFill>
                <a:latin typeface="Aptos"/>
              </a:defRPr>
            </a:pPr>
            <a:r>
              <a:t>REUSABLE COMPONENTS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3952" y="4224528"/>
            <a:ext cx="135331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816" y="4279392"/>
            <a:ext cx="12435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316F48"/>
                </a:solidFill>
                <a:latin typeface="Aptos"/>
              </a:defRPr>
            </a:pPr>
            <a:r>
              <a:t>Pill navigation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4224528"/>
            <a:ext cx="135331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0144" y="4279392"/>
            <a:ext cx="12435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316F48"/>
                </a:solidFill>
                <a:latin typeface="Aptos"/>
              </a:defRPr>
            </a:pPr>
            <a:r>
              <a:t>Product cards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36608" y="4224528"/>
            <a:ext cx="135331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91472" y="4279392"/>
            <a:ext cx="12435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316F48"/>
                </a:solidFill>
                <a:latin typeface="Aptos"/>
              </a:defRPr>
            </a:pPr>
            <a:r>
              <a:t>Primary buttons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73952" y="4754880"/>
            <a:ext cx="135331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28816" y="4809744"/>
            <a:ext cx="12435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316F48"/>
                </a:solidFill>
                <a:latin typeface="Aptos"/>
              </a:defRPr>
            </a:pPr>
            <a:r>
              <a:t>Form fields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4754880"/>
            <a:ext cx="135331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0144" y="4809744"/>
            <a:ext cx="12435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316F48"/>
                </a:solidFill>
                <a:latin typeface="Aptos"/>
              </a:defRPr>
            </a:pPr>
            <a:r>
              <a:t>Order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63E2D"/>
                </a:solidFill>
                <a:latin typeface="Aptos"/>
              </a:defRPr>
            </a:pPr>
            <a:r>
              <a:t>Plant discovery, organised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13232" cy="50292"/>
          </a:xfrm>
          <a:prstGeom prst="rect">
            <a:avLst/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6776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55664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67768"/>
                </a:solidFill>
                <a:latin typeface="Aptos"/>
              </a:defRPr>
            </a:pPr>
            <a:r>
              <a:t>PLANTFASHION  /  UI·UX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15568"/>
            <a:ext cx="9601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667768"/>
                </a:solidFill>
                <a:latin typeface="Aptos"/>
              </a:defRPr>
            </a:pPr>
            <a:r>
              <a:t>Six dedicated category pages make browsing feel more intentional.</a:t>
            </a:r>
          </a:p>
        </p:txBody>
      </p:sp>
      <p:pic>
        <p:nvPicPr>
          <p:cNvPr id="7" name="Picture 6" descr="ind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1640"/>
            <a:ext cx="3401568" cy="14813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2990088"/>
            <a:ext cx="3401568" cy="411480"/>
          </a:xfrm>
          <a:prstGeom prst="roundRect">
            <a:avLst>
              <a:gd name="adj" fmla="val 12000"/>
            </a:avLst>
          </a:prstGeom>
          <a:solidFill>
            <a:srgbClr val="16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3090672"/>
            <a:ext cx="31821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Indoor plants</a:t>
            </a:r>
          </a:p>
        </p:txBody>
      </p:sp>
      <p:pic>
        <p:nvPicPr>
          <p:cNvPr id="10" name="Picture 9" descr="stat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1691640"/>
            <a:ext cx="3401568" cy="148132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425696" y="2990088"/>
            <a:ext cx="3401568" cy="411480"/>
          </a:xfrm>
          <a:prstGeom prst="roundRect">
            <a:avLst>
              <a:gd name="adj" fmla="val 12000"/>
            </a:avLst>
          </a:prstGeom>
          <a:solidFill>
            <a:srgbClr val="16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3090672"/>
            <a:ext cx="31821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Statement plants</a:t>
            </a:r>
          </a:p>
        </p:txBody>
      </p:sp>
      <p:pic>
        <p:nvPicPr>
          <p:cNvPr id="13" name="Picture 12" descr="succul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1691640"/>
            <a:ext cx="3401568" cy="148132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193024" y="2990088"/>
            <a:ext cx="3401568" cy="411480"/>
          </a:xfrm>
          <a:prstGeom prst="roundRect">
            <a:avLst>
              <a:gd name="adj" fmla="val 12000"/>
            </a:avLst>
          </a:prstGeom>
          <a:solidFill>
            <a:srgbClr val="16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3090672"/>
            <a:ext cx="31821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Succulents &amp; cacti</a:t>
            </a:r>
          </a:p>
        </p:txBody>
      </p:sp>
      <p:pic>
        <p:nvPicPr>
          <p:cNvPr id="16" name="Picture 15" descr="flower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776472"/>
            <a:ext cx="3401568" cy="148132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58368" y="5074920"/>
            <a:ext cx="3401568" cy="411480"/>
          </a:xfrm>
          <a:prstGeom prst="roundRect">
            <a:avLst>
              <a:gd name="adj" fmla="val 12000"/>
            </a:avLst>
          </a:prstGeom>
          <a:solidFill>
            <a:srgbClr val="16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5175504"/>
            <a:ext cx="31821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Flowering plants</a:t>
            </a:r>
          </a:p>
        </p:txBody>
      </p:sp>
      <p:pic>
        <p:nvPicPr>
          <p:cNvPr id="19" name="Picture 18" descr="tre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5696" y="3776472"/>
            <a:ext cx="3401568" cy="148132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425696" y="5074920"/>
            <a:ext cx="3401568" cy="411480"/>
          </a:xfrm>
          <a:prstGeom prst="roundRect">
            <a:avLst>
              <a:gd name="adj" fmla="val 12000"/>
            </a:avLst>
          </a:prstGeom>
          <a:solidFill>
            <a:srgbClr val="16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4" y="5175504"/>
            <a:ext cx="31821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Tree saplings</a:t>
            </a:r>
          </a:p>
        </p:txBody>
      </p:sp>
      <p:pic>
        <p:nvPicPr>
          <p:cNvPr id="22" name="Picture 21" descr="outdo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024" y="3776472"/>
            <a:ext cx="3401568" cy="1481328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8193024" y="5074920"/>
            <a:ext cx="3401568" cy="411480"/>
          </a:xfrm>
          <a:prstGeom prst="roundRect">
            <a:avLst>
              <a:gd name="adj" fmla="val 12000"/>
            </a:avLst>
          </a:prstGeom>
          <a:solidFill>
            <a:srgbClr val="16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5175504"/>
            <a:ext cx="31821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Outdoor plants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989320"/>
            <a:ext cx="10698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316F48"/>
                </a:solidFill>
                <a:latin typeface="Aptos"/>
              </a:defRPr>
            </a:pPr>
            <a:r>
              <a:t>Each category pairs a strong plant visual with a starting price, short description and clear 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63E2D"/>
                </a:solidFill>
                <a:latin typeface="Aptos"/>
              </a:defRPr>
            </a:pPr>
            <a:r>
              <a:t>From browsing to confident choice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13232" cy="50292"/>
          </a:xfrm>
          <a:prstGeom prst="rect">
            <a:avLst/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6776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55664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67768"/>
                </a:solidFill>
                <a:latin typeface="Aptos"/>
              </a:defRPr>
            </a:pPr>
            <a:r>
              <a:t>PLANTFASHION  /  UI·UX CASE STUDY</a:t>
            </a:r>
          </a:p>
        </p:txBody>
      </p:sp>
      <p:pic>
        <p:nvPicPr>
          <p:cNvPr id="6" name="Picture 5" descr="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25880"/>
            <a:ext cx="5806440" cy="39776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5166360"/>
            <a:ext cx="5806440" cy="530352"/>
          </a:xfrm>
          <a:prstGeom prst="roundRect">
            <a:avLst>
              <a:gd name="adj" fmla="val 12000"/>
            </a:avLst>
          </a:prstGeom>
          <a:solidFill>
            <a:srgbClr val="16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321808"/>
            <a:ext cx="5440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SHOP PAGE  •  CATEGORY SIDEBAR + SEARCH + PRODUCT CARDS</a:t>
            </a:r>
          </a:p>
        </p:txBody>
      </p:sp>
      <p:pic>
        <p:nvPicPr>
          <p:cNvPr id="9" name="Picture 8" descr="prod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1325880"/>
            <a:ext cx="4645152" cy="3017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39712" y="4526280"/>
            <a:ext cx="4645152" cy="1170432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2" y="4736592"/>
            <a:ext cx="4023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316F48"/>
                </a:solidFill>
                <a:latin typeface="Aptos"/>
              </a:defRPr>
            </a:pPr>
            <a:r>
              <a:t>PRODUCT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5074920"/>
            <a:ext cx="4023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63E2D"/>
                </a:solidFill>
                <a:latin typeface="Aptos"/>
              </a:defRPr>
            </a:pPr>
            <a:r>
              <a:t>Boston Fern · ₹220 · Nephrolepis exaltata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2" y="5376672"/>
            <a:ext cx="4023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67768"/>
                </a:solidFill>
                <a:latin typeface="Aptos"/>
              </a:defRPr>
            </a:pPr>
            <a:r>
              <a:t>Description + quantity selector + Add to cart / Buy now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63E2D"/>
                </a:solidFill>
                <a:latin typeface="Aptos"/>
              </a:defRPr>
            </a:pPr>
            <a:r>
              <a:t>A guided purchase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13232" cy="50292"/>
          </a:xfrm>
          <a:prstGeom prst="rect">
            <a:avLst/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6776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55664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67768"/>
                </a:solidFill>
                <a:latin typeface="Aptos"/>
              </a:defRPr>
            </a:pPr>
            <a:r>
              <a:t>PLANTFASHION  /  UI·UX CASE STUDY</a:t>
            </a:r>
          </a:p>
        </p:txBody>
      </p:sp>
      <p:pic>
        <p:nvPicPr>
          <p:cNvPr id="6" name="Picture 5" descr="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71600"/>
            <a:ext cx="3493008" cy="2487168"/>
          </a:xfrm>
          <a:prstGeom prst="rect">
            <a:avLst/>
          </a:prstGeom>
        </p:spPr>
      </p:pic>
      <p:pic>
        <p:nvPicPr>
          <p:cNvPr id="7" name="Picture 6" descr="chec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371600"/>
            <a:ext cx="3493008" cy="2487168"/>
          </a:xfrm>
          <a:prstGeom prst="rect">
            <a:avLst/>
          </a:prstGeom>
        </p:spPr>
      </p:pic>
      <p:pic>
        <p:nvPicPr>
          <p:cNvPr id="8" name="Picture 7" descr="pay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371600"/>
            <a:ext cx="3493008" cy="24871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4069080"/>
            <a:ext cx="3493008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4279392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63E2D"/>
                </a:solidFill>
                <a:latin typeface="Aptos"/>
              </a:defRPr>
            </a:pPr>
            <a:r>
              <a:t>01  Cart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645152"/>
            <a:ext cx="312724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67768"/>
                </a:solidFill>
                <a:latin typeface="Aptos"/>
              </a:defRPr>
            </a:pPr>
            <a:r>
              <a:t>Review selected plants and order total.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4069080"/>
            <a:ext cx="3493008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4279392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63E2D"/>
                </a:solidFill>
                <a:latin typeface="Aptos"/>
              </a:defRPr>
            </a:pPr>
            <a:r>
              <a:t>02  Checkout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4645152"/>
            <a:ext cx="312724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67768"/>
                </a:solidFill>
                <a:latin typeface="Aptos"/>
              </a:defRPr>
            </a:pPr>
            <a:r>
              <a:t>Enter delivery details with a step indicator.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4069080"/>
            <a:ext cx="3493008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4279392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63E2D"/>
                </a:solidFill>
                <a:latin typeface="Aptos"/>
              </a:defRPr>
            </a:pPr>
            <a:r>
              <a:t>03  Payment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4645152"/>
            <a:ext cx="312724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67768"/>
                </a:solidFill>
                <a:latin typeface="Aptos"/>
              </a:defRPr>
            </a:pPr>
            <a:r>
              <a:t>Choose UPI, card, net banking or COD.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715000"/>
            <a:ext cx="10698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F48"/>
                </a:solidFill>
                <a:latin typeface="Aptos"/>
              </a:defRPr>
            </a:pPr>
            <a:r>
              <a:t>Design principle: keep the next action obvious and the order summary visible.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63E2D"/>
                </a:solidFill>
                <a:latin typeface="Aptos"/>
              </a:defRPr>
            </a:pPr>
            <a:r>
              <a:t>Reassurance after the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13232" cy="50292"/>
          </a:xfrm>
          <a:prstGeom prst="rect">
            <a:avLst/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6776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55664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67768"/>
                </a:solidFill>
                <a:latin typeface="Aptos"/>
              </a:defRPr>
            </a:pPr>
            <a:r>
              <a:t>PLANTFASHION  /  UI·UX CASE STUDY</a:t>
            </a:r>
          </a:p>
        </p:txBody>
      </p:sp>
      <p:pic>
        <p:nvPicPr>
          <p:cNvPr id="6" name="Picture 5" descr="confi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25880"/>
            <a:ext cx="5806440" cy="3246120"/>
          </a:xfrm>
          <a:prstGeom prst="rect">
            <a:avLst/>
          </a:prstGeom>
        </p:spPr>
      </p:pic>
      <p:pic>
        <p:nvPicPr>
          <p:cNvPr id="7" name="Picture 6" descr="ab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1325880"/>
            <a:ext cx="4645152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4800600"/>
            <a:ext cx="5806440" cy="868680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983480"/>
            <a:ext cx="5257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316F48"/>
                </a:solidFill>
                <a:latin typeface="Aptos"/>
              </a:defRPr>
            </a:pPr>
            <a:r>
              <a:t>ORDER CONFIRMATION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294376"/>
            <a:ext cx="5257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63E2D"/>
                </a:solidFill>
                <a:latin typeface="Aptos"/>
              </a:defRPr>
            </a:pPr>
            <a:r>
              <a:t>Order ID, estimated delivery, total and next-step options.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39712" y="4800600"/>
            <a:ext cx="464515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4032" y="4983480"/>
            <a:ext cx="4069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316F48"/>
                </a:solidFill>
                <a:latin typeface="Aptos"/>
              </a:defRPr>
            </a:pPr>
            <a:r>
              <a:t>ABOUT THE BRAND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2" y="5294376"/>
            <a:ext cx="4069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63E2D"/>
                </a:solidFill>
                <a:latin typeface="Aptos"/>
              </a:defRPr>
            </a:pPr>
            <a:r>
              <a:t>“Bring nature home. Live a little greener.”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63E2D"/>
                </a:solidFill>
                <a:latin typeface="Aptos"/>
              </a:defRPr>
            </a:pPr>
            <a:r>
              <a:t>Testing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13232" cy="50292"/>
          </a:xfrm>
          <a:prstGeom prst="rect">
            <a:avLst/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6776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55664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67768"/>
                </a:solidFill>
                <a:latin typeface="Aptos"/>
              </a:defRPr>
            </a:pPr>
            <a:r>
              <a:t>PLANTFASHION  /  UI·UX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667768"/>
                </a:solidFill>
                <a:latin typeface="Aptos"/>
              </a:defRPr>
            </a:pPr>
            <a:r>
              <a:t>The Figma prototype was reviewed across navigation, UI consistency and usability.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758952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75104"/>
            <a:ext cx="1600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63E2D"/>
                </a:solidFill>
                <a:latin typeface="Aptos"/>
              </a:defRPr>
            </a:pPr>
            <a:r>
              <a:t>Functional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965960"/>
            <a:ext cx="534924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67768"/>
                </a:solidFill>
                <a:latin typeface="Aptos"/>
              </a:defRPr>
            </a:pPr>
            <a:r>
              <a:t>Header, category buttons, product selection, cart-to-checkout, payment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52928"/>
            <a:ext cx="758952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999232"/>
            <a:ext cx="1600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63E2D"/>
                </a:solidFill>
                <a:latin typeface="Aptos"/>
              </a:defRPr>
            </a:pPr>
            <a:r>
              <a:t>UI 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990088"/>
            <a:ext cx="534924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67768"/>
                </a:solidFill>
                <a:latin typeface="Aptos"/>
              </a:defRPr>
            </a:pPr>
            <a:r>
              <a:t>Colours, font readability, button alignment, image and icon placement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77056"/>
            <a:ext cx="758952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23360"/>
            <a:ext cx="1600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63E2D"/>
                </a:solidFill>
                <a:latin typeface="Aptos"/>
              </a:defRPr>
            </a:pPr>
            <a:r>
              <a:t>Usability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014216"/>
            <a:ext cx="534924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67768"/>
                </a:solidFill>
                <a:latin typeface="Aptos"/>
              </a:defRPr>
            </a:pPr>
            <a:r>
              <a:t>Navigation clarity, interaction effort, form and order-summary visibility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1828800"/>
            <a:ext cx="2816352" cy="2816352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2304288"/>
            <a:ext cx="2267712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3100" b="1">
                <a:solidFill>
                  <a:srgbClr val="316F48"/>
                </a:solidFill>
                <a:latin typeface="Aptos"/>
              </a:defRPr>
            </a:pPr>
            <a:r>
              <a:t>10 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3063240"/>
            <a:ext cx="2331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63E2D"/>
                </a:solidFill>
                <a:latin typeface="Aptos"/>
              </a:defRPr>
            </a:pPr>
            <a:r>
              <a:t>listed page areas</a:t>
            </a:r>
          </a:p>
          <a:p>
            <a:pPr algn="ctr">
              <a:spcAft>
                <a:spcPts val="500"/>
              </a:spcAft>
              <a:defRPr sz="1600" b="1">
                <a:solidFill>
                  <a:srgbClr val="163E2D"/>
                </a:solidFill>
                <a:latin typeface="Aptos"/>
              </a:defRPr>
            </a:pPr>
            <a:r>
              <a:t>marked Passed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57800"/>
            <a:ext cx="10424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667768"/>
                </a:solidFill>
                <a:latin typeface="Aptos"/>
              </a:defRPr>
            </a:pPr>
            <a:r>
              <a:t>Includes Home, 6 category pages, Shop, Product Details, Cart, Checkout, Payment, Confirmation, About and responsive design.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63E2D"/>
                </a:solidFill>
                <a:latin typeface="Aptos"/>
              </a:defRPr>
            </a:pPr>
            <a:r>
              <a:t>Outcomes &amp; what comes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13232" cy="50292"/>
          </a:xfrm>
          <a:prstGeom prst="rect">
            <a:avLst/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6776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55664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67768"/>
                </a:solidFill>
                <a:latin typeface="Aptos"/>
              </a:defRPr>
            </a:pPr>
            <a:r>
              <a:t>PLANTFASHION  /  UI·UX 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5257800" cy="4343400"/>
          </a:xfrm>
          <a:prstGeom prst="roundRect">
            <a:avLst>
              <a:gd name="adj" fmla="val 12000"/>
            </a:avLst>
          </a:prstGeom>
          <a:solidFill>
            <a:srgbClr val="16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64208"/>
            <a:ext cx="4480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B1DA7C"/>
                </a:solidFill>
                <a:latin typeface="Aptos"/>
              </a:defRPr>
            </a:pPr>
            <a:r>
              <a:t>PROJECT OUTCOMES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240280"/>
            <a:ext cx="91440" cy="91440"/>
          </a:xfrm>
          <a:prstGeom prst="roundRect">
            <a:avLst>
              <a:gd name="adj" fmla="val 12000"/>
            </a:avLst>
          </a:prstGeom>
          <a:solidFill>
            <a:srgbClr val="B1D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2148840"/>
            <a:ext cx="426110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Complete high-fidelity page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709164"/>
            <a:ext cx="91440" cy="91440"/>
          </a:xfrm>
          <a:prstGeom prst="roundRect">
            <a:avLst>
              <a:gd name="adj" fmla="val 12000"/>
            </a:avLst>
          </a:prstGeom>
          <a:solidFill>
            <a:srgbClr val="B1D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617724"/>
            <a:ext cx="4261104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Reusable design system and UI components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434080"/>
            <a:ext cx="91440" cy="91440"/>
          </a:xfrm>
          <a:prstGeom prst="roundRect">
            <a:avLst>
              <a:gd name="adj" fmla="val 12000"/>
            </a:avLst>
          </a:prstGeom>
          <a:solidFill>
            <a:srgbClr val="B1D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9576" y="3342640"/>
            <a:ext cx="426110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Interactive end-to-end Figma prototype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902963"/>
            <a:ext cx="91440" cy="91440"/>
          </a:xfrm>
          <a:prstGeom prst="roundRect">
            <a:avLst>
              <a:gd name="adj" fmla="val 12000"/>
            </a:avLst>
          </a:prstGeom>
          <a:solidFill>
            <a:srgbClr val="B1D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9576" y="3811523"/>
            <a:ext cx="4261104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Functional, UI and usability checks documented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627879"/>
            <a:ext cx="91440" cy="91440"/>
          </a:xfrm>
          <a:prstGeom prst="roundRect">
            <a:avLst>
              <a:gd name="adj" fmla="val 12000"/>
            </a:avLst>
          </a:prstGeom>
          <a:solidFill>
            <a:srgbClr val="B1D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9576" y="4536439"/>
            <a:ext cx="4261104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Project documentation for developer handoff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325880"/>
            <a:ext cx="5321808" cy="4343400"/>
          </a:xfrm>
          <a:prstGeom prst="roundRect">
            <a:avLst>
              <a:gd name="adj" fmla="val 12000"/>
            </a:avLst>
          </a:prstGeom>
          <a:solidFill>
            <a:srgbClr val="E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664208"/>
            <a:ext cx="4480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316F48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0528" y="2240280"/>
            <a:ext cx="91440" cy="91440"/>
          </a:xfrm>
          <a:prstGeom prst="roundRect">
            <a:avLst>
              <a:gd name="adj" fmla="val 12000"/>
            </a:avLst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9984" y="2148840"/>
            <a:ext cx="426110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63E2D"/>
                </a:solidFill>
                <a:latin typeface="Aptos"/>
              </a:defRPr>
            </a:pPr>
            <a:r>
              <a:t>Login, profiles and saved addresses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0528" y="2696464"/>
            <a:ext cx="91440" cy="91440"/>
          </a:xfrm>
          <a:prstGeom prst="roundRect">
            <a:avLst>
              <a:gd name="adj" fmla="val 12000"/>
            </a:avLst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4" y="2605024"/>
            <a:ext cx="426110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63E2D"/>
                </a:solidFill>
                <a:latin typeface="Aptos"/>
              </a:defRPr>
            </a:pPr>
            <a:r>
              <a:t>Advanced search, filters and sorting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0528" y="3152648"/>
            <a:ext cx="91440" cy="91440"/>
          </a:xfrm>
          <a:prstGeom prst="roundRect">
            <a:avLst>
              <a:gd name="adj" fmla="val 12000"/>
            </a:avLst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9984" y="3061208"/>
            <a:ext cx="4261104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63E2D"/>
                </a:solidFill>
                <a:latin typeface="Aptos"/>
              </a:defRPr>
            </a:pPr>
            <a:r>
              <a:t>Plant-care guides and watering reminders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0528" y="3864864"/>
            <a:ext cx="91440" cy="91440"/>
          </a:xfrm>
          <a:prstGeom prst="roundRect">
            <a:avLst>
              <a:gd name="adj" fmla="val 12000"/>
            </a:avLst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9984" y="3773424"/>
            <a:ext cx="4261104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63E2D"/>
                </a:solidFill>
                <a:latin typeface="Aptos"/>
              </a:defRPr>
            </a:pPr>
            <a:r>
              <a:t>Reviews, ratings and live order tracking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4577080"/>
            <a:ext cx="91440" cy="91440"/>
          </a:xfrm>
          <a:prstGeom prst="roundRect">
            <a:avLst>
              <a:gd name="adj" fmla="val 12000"/>
            </a:avLst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9984" y="4485640"/>
            <a:ext cx="426110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63E2D"/>
                </a:solidFill>
                <a:latin typeface="Aptos"/>
              </a:defRPr>
            </a:pPr>
            <a:r>
              <a:t>Tamil language support and mobile app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10528" y="5033264"/>
            <a:ext cx="91440" cy="91440"/>
          </a:xfrm>
          <a:prstGeom prst="roundRect">
            <a:avLst>
              <a:gd name="adj" fmla="val 12000"/>
            </a:avLst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9984" y="4941824"/>
            <a:ext cx="4261104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63E2D"/>
                </a:solidFill>
                <a:latin typeface="Aptos"/>
              </a:defRPr>
            </a:pPr>
            <a:r>
              <a:t>Frontend, backend and payment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B1DA7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55664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B1DA7C"/>
                </a:solidFill>
                <a:latin typeface="Aptos"/>
              </a:defRPr>
            </a:pPr>
            <a:r>
              <a:t>PLANTFASHION  /  UI·UX CASE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7452360" y="0"/>
            <a:ext cx="4736592" cy="6858000"/>
          </a:xfrm>
          <a:prstGeom prst="rect">
            <a:avLst/>
          </a:prstGeom>
          <a:solidFill>
            <a:srgbClr val="31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051560"/>
            <a:ext cx="3794760" cy="2487168"/>
          </a:xfrm>
          <a:prstGeom prst="rect">
            <a:avLst/>
          </a:prstGeom>
        </p:spPr>
      </p:pic>
      <p:pic>
        <p:nvPicPr>
          <p:cNvPr id="6" name="Picture 5" descr="confir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730752"/>
            <a:ext cx="3794760" cy="20848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1143000"/>
            <a:ext cx="621792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868680" cy="54864"/>
          </a:xfrm>
          <a:prstGeom prst="rect">
            <a:avLst/>
          </a:prstGeom>
          <a:solidFill>
            <a:srgbClr val="B1D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487168"/>
            <a:ext cx="6126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B1DA7C"/>
                </a:solidFill>
                <a:latin typeface="Aptos"/>
              </a:defRPr>
            </a:pPr>
            <a:r>
              <a:t>PlantFashion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54680"/>
            <a:ext cx="612648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100" b="0">
                <a:solidFill>
                  <a:srgbClr val="EFF7E4"/>
                </a:solidFill>
                <a:latin typeface="Aptos"/>
              </a:defRPr>
            </a:pPr>
            <a:r>
              <a:t>A thoughtful digital experience</a:t>
            </a:r>
          </a:p>
          <a:p>
            <a:pPr algn="l">
              <a:spcAft>
                <a:spcPts val="500"/>
              </a:spcAft>
              <a:defRPr sz="2100" b="0">
                <a:solidFill>
                  <a:srgbClr val="EFF7E4"/>
                </a:solidFill>
                <a:latin typeface="Aptos"/>
              </a:defRPr>
            </a:pPr>
            <a:r>
              <a:t>for every plant lover.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800600"/>
            <a:ext cx="6126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Vishnupriya K  |  B.E. CSE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230368"/>
            <a:ext cx="6309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EFF7E4"/>
                </a:solidFill>
                <a:latin typeface="Aptos"/>
              </a:defRPr>
            </a:pPr>
            <a:r>
              <a:t>Astonish Infotech · UI/UX Internship · June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897880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B1DA7C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